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Inter"/>
      <p:regular r:id="rId16"/>
    </p:embeddedFon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9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Архитектура ОС Microsoft Windows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Системный обзор: от режима ядра до пользовательского пространства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47512"/>
            <a:ext cx="57066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Эволюция Windows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450211" y="2096453"/>
            <a:ext cx="30480" cy="5085636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5" name="Shape 2"/>
          <p:cNvSpPr/>
          <p:nvPr/>
        </p:nvSpPr>
        <p:spPr>
          <a:xfrm>
            <a:off x="6419731" y="2336363"/>
            <a:ext cx="453628" cy="3048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6" name="Shape 3"/>
          <p:cNvSpPr/>
          <p:nvPr/>
        </p:nvSpPr>
        <p:spPr>
          <a:xfrm>
            <a:off x="6365200" y="2266593"/>
            <a:ext cx="170021" cy="170021"/>
          </a:xfrm>
          <a:prstGeom prst="roundRect">
            <a:avLst>
              <a:gd name="adj" fmla="val 268908"/>
            </a:avLst>
          </a:prstGeom>
          <a:solidFill>
            <a:srgbClr val="4950BC"/>
          </a:solidFill>
          <a:ln/>
        </p:spPr>
      </p:sp>
      <p:sp>
        <p:nvSpPr>
          <p:cNvPr id="7" name="Text 4"/>
          <p:cNvSpPr/>
          <p:nvPr/>
        </p:nvSpPr>
        <p:spPr>
          <a:xfrm>
            <a:off x="7357586" y="21743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1981–1993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57586" y="2664738"/>
            <a:ext cx="647902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MS-DOS + надстройка Windows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6419731" y="3721179"/>
            <a:ext cx="453628" cy="3048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10" name="Shape 7"/>
          <p:cNvSpPr/>
          <p:nvPr/>
        </p:nvSpPr>
        <p:spPr>
          <a:xfrm>
            <a:off x="6365200" y="3651409"/>
            <a:ext cx="170021" cy="170021"/>
          </a:xfrm>
          <a:prstGeom prst="roundRect">
            <a:avLst>
              <a:gd name="adj" fmla="val 268908"/>
            </a:avLst>
          </a:prstGeom>
          <a:solidFill>
            <a:srgbClr val="4950BC"/>
          </a:solidFill>
          <a:ln/>
        </p:spPr>
      </p:sp>
      <p:sp>
        <p:nvSpPr>
          <p:cNvPr id="11" name="Text 8"/>
          <p:cNvSpPr/>
          <p:nvPr/>
        </p:nvSpPr>
        <p:spPr>
          <a:xfrm>
            <a:off x="7357586" y="35591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1993–2001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357586" y="4049554"/>
            <a:ext cx="647902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 NT — самостоятельное ядро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419731" y="5105995"/>
            <a:ext cx="453628" cy="3048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14" name="Shape 11"/>
          <p:cNvSpPr/>
          <p:nvPr/>
        </p:nvSpPr>
        <p:spPr>
          <a:xfrm>
            <a:off x="6365200" y="5036225"/>
            <a:ext cx="170021" cy="170021"/>
          </a:xfrm>
          <a:prstGeom prst="roundRect">
            <a:avLst>
              <a:gd name="adj" fmla="val 268908"/>
            </a:avLst>
          </a:prstGeom>
          <a:solidFill>
            <a:srgbClr val="4950BC"/>
          </a:solidFill>
          <a:ln/>
        </p:spPr>
      </p:sp>
      <p:sp>
        <p:nvSpPr>
          <p:cNvPr id="15" name="Text 12"/>
          <p:cNvSpPr/>
          <p:nvPr/>
        </p:nvSpPr>
        <p:spPr>
          <a:xfrm>
            <a:off x="7357586" y="49439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2001–2012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357586" y="5434370"/>
            <a:ext cx="647902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Унификация XP / Vista / 7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6419731" y="6490811"/>
            <a:ext cx="453628" cy="3048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18" name="Shape 15"/>
          <p:cNvSpPr/>
          <p:nvPr/>
        </p:nvSpPr>
        <p:spPr>
          <a:xfrm>
            <a:off x="6365200" y="6421041"/>
            <a:ext cx="170021" cy="170021"/>
          </a:xfrm>
          <a:prstGeom prst="roundRect">
            <a:avLst>
              <a:gd name="adj" fmla="val 268908"/>
            </a:avLst>
          </a:prstGeom>
          <a:solidFill>
            <a:srgbClr val="4950BC"/>
          </a:solidFill>
          <a:ln/>
        </p:spPr>
      </p:sp>
      <p:sp>
        <p:nvSpPr>
          <p:cNvPr id="19" name="Text 16"/>
          <p:cNvSpPr/>
          <p:nvPr/>
        </p:nvSpPr>
        <p:spPr>
          <a:xfrm>
            <a:off x="7357586" y="63287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2012–н.в.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357586" y="6819186"/>
            <a:ext cx="647902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Единая экосистема: Desktop, IoT,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Xbox One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66361"/>
            <a:ext cx="71479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Глобальная архитектура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2876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Фундаментальный принцип — жёсткое разделение привилегий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30436" y="3146822"/>
            <a:ext cx="6571417" cy="2497455"/>
          </a:xfrm>
          <a:prstGeom prst="roundRect">
            <a:avLst>
              <a:gd name="adj" fmla="val 6539"/>
            </a:avLst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857250" y="3373636"/>
            <a:ext cx="37883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Режим ядра (Kernel mode)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7250" y="3954780"/>
            <a:ext cx="6117788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Полный доступ к оборудованию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Общее адресное пространство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Исполнительная система,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драйверы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373636"/>
            <a:ext cx="55404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Пользовательский режим (User mode)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3954780"/>
            <a:ext cx="6244709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Изолированное виртуальное адресное пространство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Ограниченные привилегии (Ring 3)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Взаимодействие через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NT API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системные вызовы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5899428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C7C9E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243518"/>
            <a:ext cx="283488" cy="22681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30906" y="6182916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Нарушение изоляции → BSoD или исключение доступа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6441"/>
            <a:ext cx="76597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Компоненты режима ядра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168848"/>
            <a:ext cx="1341120" cy="8287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2811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771549"/>
            <a:ext cx="304800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Аппаратная абстракция. Скрывает различия платформ от вышележащих слоёв.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78" y="3168848"/>
            <a:ext cx="1341120" cy="8287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5278" y="42811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Микроядро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25278" y="4771549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Планирование потоков, обработка прерываний, синхронизация.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884" y="3168848"/>
            <a:ext cx="1341120" cy="8287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6884" y="4281130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Исполнительная система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56884" y="5125879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Высокоуровневые диспетчеры ресурсов ОС.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491" y="3168848"/>
            <a:ext cx="1341120" cy="82879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8491" y="4281130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Драйверы устройств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88491" y="5125879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Динамически загружаемые модули. Работают в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режиме ядра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59129" y="1556861"/>
            <a:ext cx="5978843" cy="430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Модули исполнительной системы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9129" y="2573417"/>
            <a:ext cx="6065163" cy="363902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968145" y="2207419"/>
            <a:ext cx="3110627" cy="4371023"/>
          </a:xfrm>
          <a:prstGeom prst="roundRect">
            <a:avLst>
              <a:gd name="adj" fmla="val 186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975765" y="2215039"/>
            <a:ext cx="3095387" cy="29301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13639" y="2272903"/>
            <a:ext cx="1423035" cy="177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Диспетчер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819805" y="2272903"/>
            <a:ext cx="1113592" cy="177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Функция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975765" y="2508052"/>
            <a:ext cx="3095387" cy="47029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9113639" y="2565916"/>
            <a:ext cx="1423035" cy="177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Ввода-вывода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819805" y="2565916"/>
            <a:ext cx="1113592" cy="35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Управление I/O-запросами, IRP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975765" y="2978348"/>
            <a:ext cx="3095387" cy="82486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9113639" y="3036213"/>
            <a:ext cx="1423035" cy="177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Памяти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0819805" y="3036213"/>
            <a:ext cx="1113592" cy="709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Виртуальная память, страничный файл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975765" y="3803213"/>
            <a:ext cx="3095387" cy="64758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9113639" y="3861078"/>
            <a:ext cx="1423035" cy="177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Объектов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0819805" y="3861078"/>
            <a:ext cx="1113592" cy="531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Именование, квоты, </a:t>
            </a:r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дескрипторы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975765" y="4450794"/>
            <a:ext cx="3095387" cy="6475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9113639" y="4508659"/>
            <a:ext cx="1423035" cy="177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Процессов/Потоков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0819805" y="4508659"/>
            <a:ext cx="1113592" cy="531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Создание, планирование, завершение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975765" y="5098375"/>
            <a:ext cx="3095387" cy="82486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9113639" y="5156240"/>
            <a:ext cx="1423035" cy="177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Электропитания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0819805" y="5156240"/>
            <a:ext cx="1113592" cy="709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ACPI, управление состоянием питания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975765" y="5923240"/>
            <a:ext cx="3095387" cy="6475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9113639" y="5981105"/>
            <a:ext cx="1423035" cy="177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Конфигурации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0819805" y="5981105"/>
            <a:ext cx="1113592" cy="531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Реестр Windows (Registry)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6618" y="627578"/>
            <a:ext cx="7493198" cy="70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Пользовательский режим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276618" y="1670209"/>
            <a:ext cx="7563564" cy="1314450"/>
          </a:xfrm>
          <a:prstGeom prst="roundRect">
            <a:avLst>
              <a:gd name="adj" fmla="val 721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09980" y="1903571"/>
            <a:ext cx="3479006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Специальные процессы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9980" y="2391013"/>
            <a:ext cx="7096839" cy="360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Manager (smss.exe), LSASS, WinLogon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76618" y="3209330"/>
            <a:ext cx="7563564" cy="1314450"/>
          </a:xfrm>
          <a:prstGeom prst="roundRect">
            <a:avLst>
              <a:gd name="adj" fmla="val 721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09980" y="3442692"/>
            <a:ext cx="3190280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Служебные процессы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09980" y="3930134"/>
            <a:ext cx="7096839" cy="360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 Services — фоновые задачи без UI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76618" y="4748451"/>
            <a:ext cx="7563564" cy="1314450"/>
          </a:xfrm>
          <a:prstGeom prst="roundRect">
            <a:avLst>
              <a:gd name="adj" fmla="val 721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09980" y="4981813"/>
            <a:ext cx="282606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Подсистемы среды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9980" y="5469255"/>
            <a:ext cx="7096839" cy="360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Win32, POSIX, WoW64 — трансляция API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76618" y="6287572"/>
            <a:ext cx="7563564" cy="1314450"/>
          </a:xfrm>
          <a:prstGeom prst="roundRect">
            <a:avLst>
              <a:gd name="adj" fmla="val 721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09980" y="6520934"/>
            <a:ext cx="453294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Пользовательские приложения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509980" y="7008376"/>
            <a:ext cx="7096839" cy="360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Исполняются в изолированном процессе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39309"/>
            <a:ext cx="124853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Модель «Клиент-Сервер» внутри Windows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37460"/>
            <a:ext cx="8284131" cy="36365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99080" y="4903525"/>
            <a:ext cx="1452137" cy="448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Процесс пользователя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199080" y="5416161"/>
            <a:ext cx="1452137" cy="359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Клиент формирует запрос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276235" y="5072076"/>
            <a:ext cx="1452137" cy="22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Ядро (Kernel)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76235" y="5360310"/>
            <a:ext cx="1452137" cy="359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выполняет системный вызов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249626" y="2918804"/>
            <a:ext cx="1452137" cy="448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Подсистема окружения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249626" y="3431441"/>
            <a:ext cx="1452137" cy="538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CSRSS обрабатывает ALPC/RPC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3790" y="6429137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ALPC — высокопроизводительный локальный RPC без сетевого стека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9638943" y="2415064"/>
            <a:ext cx="36253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Преимущества изоляции</a:t>
            </a:r>
            <a:endParaRPr lang="en-US" sz="2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23953" y="3035856"/>
            <a:ext cx="340162" cy="3401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376059" y="3024545"/>
            <a:ext cx="34680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Надёжность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сбой подсистемы не роняет ядро</a:t>
            </a:r>
            <a:endParaRPr lang="en-US" sz="17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23953" y="4215289"/>
            <a:ext cx="340162" cy="3401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376059" y="4203978"/>
            <a:ext cx="34680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Безопасность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минимальные привилегии каждого компонента</a:t>
            </a:r>
            <a:endParaRPr lang="en-US" sz="17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23953" y="5757624"/>
            <a:ext cx="340162" cy="34016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376059" y="5746313"/>
            <a:ext cx="34680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Расширяемость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новые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подсистемы среды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без изменения ядра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94916" y="1248728"/>
            <a:ext cx="5241846" cy="45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Объектная модель Windows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5994916" y="2060138"/>
            <a:ext cx="8126968" cy="997029"/>
          </a:xfrm>
          <a:prstGeom prst="roundRect">
            <a:avLst>
              <a:gd name="adj" fmla="val 7337"/>
            </a:avLst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994916" y="2044898"/>
            <a:ext cx="8126968" cy="60960"/>
          </a:xfrm>
          <a:prstGeom prst="roundRect">
            <a:avLst>
              <a:gd name="adj" fmla="val 100108"/>
            </a:avLst>
          </a:prstGeom>
          <a:solidFill>
            <a:srgbClr val="4950BC"/>
          </a:solidFill>
          <a:ln/>
        </p:spPr>
      </p:sp>
      <p:sp>
        <p:nvSpPr>
          <p:cNvPr id="6" name="Shape 3"/>
          <p:cNvSpPr/>
          <p:nvPr/>
        </p:nvSpPr>
        <p:spPr>
          <a:xfrm>
            <a:off x="9840456" y="1842254"/>
            <a:ext cx="435888" cy="435888"/>
          </a:xfrm>
          <a:prstGeom prst="roundRect">
            <a:avLst>
              <a:gd name="adj" fmla="val 209779"/>
            </a:avLst>
          </a:prstGeom>
          <a:solidFill>
            <a:srgbClr val="4950B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71187" y="1972985"/>
            <a:ext cx="174308" cy="1743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55412" y="2423279"/>
            <a:ext cx="1816179" cy="226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Инкапсуляция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155412" y="2706053"/>
            <a:ext cx="7805976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Атрибуты и методы объекта скрыты от прямого доступа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994916" y="3368040"/>
            <a:ext cx="8126968" cy="997029"/>
          </a:xfrm>
          <a:prstGeom prst="roundRect">
            <a:avLst>
              <a:gd name="adj" fmla="val 7337"/>
            </a:avLst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5994916" y="3352800"/>
            <a:ext cx="8126968" cy="60960"/>
          </a:xfrm>
          <a:prstGeom prst="roundRect">
            <a:avLst>
              <a:gd name="adj" fmla="val 100108"/>
            </a:avLst>
          </a:prstGeom>
          <a:solidFill>
            <a:srgbClr val="4950BC"/>
          </a:solidFill>
          <a:ln/>
        </p:spPr>
      </p:sp>
      <p:sp>
        <p:nvSpPr>
          <p:cNvPr id="12" name="Shape 8"/>
          <p:cNvSpPr/>
          <p:nvPr/>
        </p:nvSpPr>
        <p:spPr>
          <a:xfrm>
            <a:off x="9840456" y="3150156"/>
            <a:ext cx="435888" cy="435888"/>
          </a:xfrm>
          <a:prstGeom prst="roundRect">
            <a:avLst>
              <a:gd name="adj" fmla="val 209779"/>
            </a:avLst>
          </a:prstGeom>
          <a:solidFill>
            <a:srgbClr val="4950B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71187" y="3280886"/>
            <a:ext cx="174308" cy="17430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55412" y="3731181"/>
            <a:ext cx="1927860" cy="226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Диспетчер объектов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155412" y="4013954"/>
            <a:ext cx="7805976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Единая точка создания, именования и удаления объектов ядра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994916" y="4675942"/>
            <a:ext cx="8126968" cy="997029"/>
          </a:xfrm>
          <a:prstGeom prst="roundRect">
            <a:avLst>
              <a:gd name="adj" fmla="val 7337"/>
            </a:avLst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5994916" y="4660702"/>
            <a:ext cx="8126968" cy="60960"/>
          </a:xfrm>
          <a:prstGeom prst="roundRect">
            <a:avLst>
              <a:gd name="adj" fmla="val 100108"/>
            </a:avLst>
          </a:prstGeom>
          <a:solidFill>
            <a:srgbClr val="4950BC"/>
          </a:solidFill>
          <a:ln/>
        </p:spPr>
      </p:sp>
      <p:sp>
        <p:nvSpPr>
          <p:cNvPr id="18" name="Shape 13"/>
          <p:cNvSpPr/>
          <p:nvPr/>
        </p:nvSpPr>
        <p:spPr>
          <a:xfrm>
            <a:off x="9840456" y="4458057"/>
            <a:ext cx="435888" cy="435888"/>
          </a:xfrm>
          <a:prstGeom prst="roundRect">
            <a:avLst>
              <a:gd name="adj" fmla="val 209779"/>
            </a:avLst>
          </a:prstGeom>
          <a:solidFill>
            <a:srgbClr val="4950B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71187" y="4588788"/>
            <a:ext cx="174308" cy="17430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55412" y="5039082"/>
            <a:ext cx="2185511" cy="226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Дескрипторы</a:t>
            </a:r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(Handles)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155412" y="5321856"/>
            <a:ext cx="7805976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Косвенные ссылки процесса на объект ядра через таблицу дескрипторов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994916" y="5983843"/>
            <a:ext cx="8126968" cy="997029"/>
          </a:xfrm>
          <a:prstGeom prst="roundRect">
            <a:avLst>
              <a:gd name="adj" fmla="val 7337"/>
            </a:avLst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5994916" y="5968603"/>
            <a:ext cx="8126968" cy="60960"/>
          </a:xfrm>
          <a:prstGeom prst="roundRect">
            <a:avLst>
              <a:gd name="adj" fmla="val 100108"/>
            </a:avLst>
          </a:prstGeom>
          <a:solidFill>
            <a:srgbClr val="4950BC"/>
          </a:solidFill>
          <a:ln/>
        </p:spPr>
      </p:sp>
      <p:sp>
        <p:nvSpPr>
          <p:cNvPr id="24" name="Shape 18"/>
          <p:cNvSpPr/>
          <p:nvPr/>
        </p:nvSpPr>
        <p:spPr>
          <a:xfrm>
            <a:off x="9840456" y="5765959"/>
            <a:ext cx="435888" cy="435888"/>
          </a:xfrm>
          <a:prstGeom prst="roundRect">
            <a:avLst>
              <a:gd name="adj" fmla="val 209779"/>
            </a:avLst>
          </a:prstGeom>
          <a:solidFill>
            <a:srgbClr val="4950B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71187" y="5896689"/>
            <a:ext cx="174308" cy="17430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155412" y="6346984"/>
            <a:ext cx="1816179" cy="226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 Descriptor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6155412" y="6629757"/>
            <a:ext cx="7805976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ACL, DACL, SACL — контроль доступа на уровне каждого объекта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9805" y="1226701"/>
            <a:ext cx="7988975" cy="544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Объекты управления ядра Windows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299805" y="2039541"/>
            <a:ext cx="12030670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Объекты </a:t>
            </a:r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режима ядра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используемые исполнительной системой и микроядром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299805" y="2436852"/>
            <a:ext cx="12030670" cy="3783449"/>
          </a:xfrm>
          <a:prstGeom prst="roundRect">
            <a:avLst>
              <a:gd name="adj" fmla="val 193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7425" y="2444472"/>
            <a:ext cx="12015430" cy="42255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481852" y="2532459"/>
            <a:ext cx="1810345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Объект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648432" y="2532459"/>
            <a:ext cx="2287072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Тип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291739" y="2532459"/>
            <a:ext cx="3248382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Назначение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96356" y="2532459"/>
            <a:ext cx="3252192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Ключевые поля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307425" y="2867025"/>
            <a:ext cx="12015430" cy="6691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481852" y="2955012"/>
            <a:ext cx="1810345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48432" y="2955012"/>
            <a:ext cx="2287072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Асинхронный вызов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291739" y="2955012"/>
            <a:ext cx="3248382" cy="493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Выполнение процедуры в контексте потока без переключения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896356" y="2955012"/>
            <a:ext cx="3252192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Thread, SystemArguments, ApcMode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307425" y="3536156"/>
            <a:ext cx="12015430" cy="6691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481852" y="3624143"/>
            <a:ext cx="1810345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DPC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648432" y="3624143"/>
            <a:ext cx="2287072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Отложенный вызов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91739" y="3624143"/>
            <a:ext cx="3248382" cy="493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Обработка прерываний вне ISR на уровне DISPATCH_LEVEL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896356" y="3624143"/>
            <a:ext cx="3252192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DeferredRoutine, DpcData, Importance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307425" y="4205288"/>
            <a:ext cx="12015430" cy="6691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481852" y="4293275"/>
            <a:ext cx="1810345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Прерывание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648432" y="4293275"/>
            <a:ext cx="2287072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Объект прерывания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291739" y="4293275"/>
            <a:ext cx="3248382" cy="493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Связывает IRQ с ISR-обработчиком в таблице IDT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896356" y="4293275"/>
            <a:ext cx="3252192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Vector, IRQL, ServiceRoutine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307425" y="4874419"/>
            <a:ext cx="12015430" cy="6691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481852" y="4962406"/>
            <a:ext cx="1810345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Процесс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648432" y="4962406"/>
            <a:ext cx="2287072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KPROCESS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291739" y="4962406"/>
            <a:ext cx="3248382" cy="493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Контейнер потоков и адресного пространства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896356" y="4962406"/>
            <a:ext cx="3252192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DirectoryTableBase, ThreadListHead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1307425" y="5543550"/>
            <a:ext cx="12015430" cy="6691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481852" y="5631537"/>
            <a:ext cx="1810345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Поток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648432" y="5631537"/>
            <a:ext cx="2287072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KTHREAD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291739" y="5631537"/>
            <a:ext cx="3248382" cy="493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Единица планирования; хранит контекст исполнения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896356" y="5631537"/>
            <a:ext cx="3252192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StackBase, TrapFrame, WaitListHead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1299805" y="6371034"/>
            <a:ext cx="12030670" cy="631865"/>
          </a:xfrm>
          <a:prstGeom prst="roundRect">
            <a:avLst>
              <a:gd name="adj" fmla="val 11590"/>
            </a:avLst>
          </a:prstGeom>
          <a:solidFill>
            <a:srgbClr val="C7C9EA"/>
          </a:solidFill>
          <a:ln/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4113" y="6619280"/>
            <a:ext cx="217884" cy="174307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866305" y="6548557"/>
            <a:ext cx="11289863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APC и DPC — механизмы отложенного исполнения, критичные для разработки драйверов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2026-03-24T17:31:54Z</dcterms:created>
  <dcterms:modified xsi:type="dcterms:W3CDTF">2026-03-24T17:31:54Z</dcterms:modified>
</cp:coreProperties>
</file>